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3" r:id="rId3"/>
    <p:sldId id="258" r:id="rId4"/>
    <p:sldId id="268" r:id="rId5"/>
    <p:sldId id="272" r:id="rId6"/>
    <p:sldId id="257" r:id="rId7"/>
    <p:sldId id="266" r:id="rId8"/>
    <p:sldId id="259" r:id="rId9"/>
    <p:sldId id="262" r:id="rId10"/>
    <p:sldId id="263" r:id="rId11"/>
    <p:sldId id="270" r:id="rId12"/>
    <p:sldId id="275" r:id="rId13"/>
    <p:sldId id="276" r:id="rId14"/>
    <p:sldId id="277" r:id="rId15"/>
    <p:sldId id="278" r:id="rId16"/>
    <p:sldId id="265" r:id="rId17"/>
    <p:sldId id="274" r:id="rId18"/>
    <p:sldId id="264" r:id="rId19"/>
    <p:sldId id="271" r:id="rId20"/>
  </p:sldIdLst>
  <p:sldSz cx="14630400" cy="8229600"/>
  <p:notesSz cx="8229600" cy="146304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Arial Rounded MT Bold" panose="020F0704030504030204" pitchFamily="34" charset="0"/>
      <p:regular r:id="rId26"/>
    </p:embeddedFont>
    <p:embeddedFont>
      <p:font typeface="Barlow" panose="020B0604020202020204" charset="0"/>
      <p:regular r:id="rId27"/>
    </p:embeddedFont>
    <p:embeddedFont>
      <p:font typeface="Arial Narrow" panose="020B0606020202030204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utul\Downloads\Report5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Sheet1!$E$4:$E$5</c:f>
              <c:strCache>
                <c:ptCount val="2"/>
                <c:pt idx="0">
                  <c:v>AM Based RoF Link</c:v>
                </c:pt>
                <c:pt idx="1">
                  <c:v>23.647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Sheet1!$D$6:$D$12</c:f>
              <c:strCache>
                <c:ptCount val="7"/>
                <c:pt idx="0">
                  <c:v>Optical Spectrum Analyzer</c:v>
                </c:pt>
                <c:pt idx="1">
                  <c:v>Optical Power Meter (EDFA)</c:v>
                </c:pt>
                <c:pt idx="2">
                  <c:v>Optical Spectrum Analyzer</c:v>
                </c:pt>
                <c:pt idx="3">
                  <c:v>Optical Time Domain Analyzer (Max)</c:v>
                </c:pt>
                <c:pt idx="4">
                  <c:v>Optical Time Domain Analyzer (Min)</c:v>
                </c:pt>
                <c:pt idx="5">
                  <c:v>Eye Diagram 1</c:v>
                </c:pt>
                <c:pt idx="6">
                  <c:v>Eye Diagram 2</c:v>
                </c:pt>
              </c:strCache>
            </c:strRef>
          </c:cat>
          <c:val>
            <c:numRef>
              <c:f>Sheet1!$E$6:$E$12</c:f>
              <c:numCache>
                <c:formatCode>General</c:formatCode>
                <c:ptCount val="7"/>
                <c:pt idx="0">
                  <c:v>-20.922000000000001</c:v>
                </c:pt>
                <c:pt idx="1">
                  <c:v>17.027000000000001</c:v>
                </c:pt>
                <c:pt idx="2">
                  <c:v>15.5</c:v>
                </c:pt>
                <c:pt idx="3">
                  <c:v>0.77</c:v>
                </c:pt>
                <c:pt idx="4">
                  <c:v>-0.03</c:v>
                </c:pt>
                <c:pt idx="5">
                  <c:v>6.17</c:v>
                </c:pt>
                <c:pt idx="6">
                  <c:v>6.56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3C-4468-B93C-A326AA7D2A17}"/>
            </c:ext>
          </c:extLst>
        </c:ser>
        <c:ser>
          <c:idx val="1"/>
          <c:order val="1"/>
          <c:tx>
            <c:strRef>
              <c:f>Sheet1!$F$4:$F$5</c:f>
              <c:strCache>
                <c:ptCount val="2"/>
                <c:pt idx="0">
                  <c:v>DD-MZM Based RoF Link</c:v>
                </c:pt>
                <c:pt idx="1">
                  <c:v>N/A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Sheet1!$D$6:$D$12</c:f>
              <c:strCache>
                <c:ptCount val="7"/>
                <c:pt idx="0">
                  <c:v>Optical Spectrum Analyzer</c:v>
                </c:pt>
                <c:pt idx="1">
                  <c:v>Optical Power Meter (EDFA)</c:v>
                </c:pt>
                <c:pt idx="2">
                  <c:v>Optical Spectrum Analyzer</c:v>
                </c:pt>
                <c:pt idx="3">
                  <c:v>Optical Time Domain Analyzer (Max)</c:v>
                </c:pt>
                <c:pt idx="4">
                  <c:v>Optical Time Domain Analyzer (Min)</c:v>
                </c:pt>
                <c:pt idx="5">
                  <c:v>Eye Diagram 1</c:v>
                </c:pt>
                <c:pt idx="6">
                  <c:v>Eye Diagram 2</c:v>
                </c:pt>
              </c:strCache>
            </c:strRef>
          </c:cat>
          <c:val>
            <c:numRef>
              <c:f>Sheet1!$F$6:$F$12</c:f>
              <c:numCache>
                <c:formatCode>General</c:formatCode>
                <c:ptCount val="7"/>
                <c:pt idx="0">
                  <c:v>-17.273</c:v>
                </c:pt>
                <c:pt idx="1">
                  <c:v>17.186</c:v>
                </c:pt>
                <c:pt idx="2">
                  <c:v>17.829999999999998</c:v>
                </c:pt>
                <c:pt idx="3">
                  <c:v>0.34</c:v>
                </c:pt>
                <c:pt idx="4">
                  <c:v>-0.01</c:v>
                </c:pt>
                <c:pt idx="5">
                  <c:v>2.4184000000000001</c:v>
                </c:pt>
                <c:pt idx="6">
                  <c:v>2.3969999999999998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3C-4468-B93C-A326AA7D2A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3698095"/>
        <c:axId val="913692687"/>
      </c:barChart>
      <c:catAx>
        <c:axId val="913698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3692687"/>
        <c:crosses val="autoZero"/>
        <c:auto val="1"/>
        <c:lblAlgn val="ctr"/>
        <c:lblOffset val="100"/>
        <c:noMultiLvlLbl val="0"/>
      </c:catAx>
      <c:valAx>
        <c:axId val="913692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3698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538240906236412"/>
          <c:y val="0.92690721462731274"/>
          <c:w val="0.75616667069223709"/>
          <c:h val="7.30927853726873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0700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6" y="2776295"/>
            <a:ext cx="13349674" cy="280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450"/>
              </a:lnSpc>
              <a:buNone/>
            </a:pPr>
            <a:r>
              <a:rPr lang="en-US" sz="5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MIMO Based Radio-over-Fiber link for Millimeter Wave Generation Using an External Optical Modulator</a:t>
            </a:r>
            <a:endParaRPr lang="en-US" sz="5950" dirty="0"/>
          </a:p>
        </p:txBody>
      </p:sp>
      <p:sp>
        <p:nvSpPr>
          <p:cNvPr id="3" name="Text 1"/>
          <p:cNvSpPr/>
          <p:nvPr/>
        </p:nvSpPr>
        <p:spPr>
          <a:xfrm>
            <a:off x="864037" y="5583555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9773" y="1022369"/>
            <a:ext cx="404836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6600" b="1" dirty="0" smtClean="0">
                <a:solidFill>
                  <a:srgbClr val="F0FCFF"/>
                </a:solidFill>
                <a:latin typeface="Arial Rounded MT Bold" panose="020F0704030504030204" pitchFamily="34" charset="0"/>
                <a:ea typeface="Spline Sans Bold" pitchFamily="34" charset="-122"/>
                <a:cs typeface="Spline Sans Bold" pitchFamily="34" charset="-120"/>
              </a:rPr>
              <a:t>Our Team</a:t>
            </a:r>
            <a:endParaRPr lang="en-US" sz="6600" dirty="0">
              <a:latin typeface="Arial Rounded MT Bold" panose="020F0704030504030204" pitchFamily="34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1448544" y="5430026"/>
            <a:ext cx="292564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 err="1" smtClean="0">
                <a:solidFill>
                  <a:srgbClr val="F0FCFF"/>
                </a:solidFill>
                <a:latin typeface="Arial Narrow" panose="020B0606020202030204" pitchFamily="34" charset="0"/>
                <a:ea typeface="Spline Sans Bold" pitchFamily="34" charset="-122"/>
                <a:cs typeface="Spline Sans Bold" pitchFamily="34" charset="-120"/>
              </a:rPr>
              <a:t>Nafis</a:t>
            </a:r>
            <a:r>
              <a:rPr lang="en-US" sz="4300" b="1" dirty="0" smtClean="0">
                <a:solidFill>
                  <a:srgbClr val="F0FCFF"/>
                </a:solidFill>
                <a:latin typeface="Arial Narrow" panose="020B0606020202030204" pitchFamily="34" charset="0"/>
                <a:ea typeface="Spline Sans Bold" pitchFamily="34" charset="-122"/>
                <a:cs typeface="Spline Sans Bold" pitchFamily="34" charset="-120"/>
              </a:rPr>
              <a:t> </a:t>
            </a:r>
            <a:r>
              <a:rPr lang="en-US" sz="4300" b="1" dirty="0" err="1" smtClean="0">
                <a:solidFill>
                  <a:srgbClr val="F0FCFF"/>
                </a:solidFill>
                <a:latin typeface="Arial Narrow" panose="020B0606020202030204" pitchFamily="34" charset="0"/>
                <a:ea typeface="Spline Sans Bold" pitchFamily="34" charset="-122"/>
                <a:cs typeface="Spline Sans Bold" pitchFamily="34" charset="-120"/>
              </a:rPr>
              <a:t>Fuad</a:t>
            </a:r>
            <a:r>
              <a:rPr lang="en-US" sz="4300" b="1" dirty="0" smtClean="0">
                <a:solidFill>
                  <a:srgbClr val="F0FCFF"/>
                </a:solidFill>
                <a:latin typeface="Arial Narrow" panose="020B0606020202030204" pitchFamily="34" charset="0"/>
                <a:ea typeface="Spline Sans Bold" pitchFamily="34" charset="-122"/>
                <a:cs typeface="Spline Sans Bold" pitchFamily="34" charset="-120"/>
              </a:rPr>
              <a:t> </a:t>
            </a:r>
            <a:r>
              <a:rPr lang="en-US" sz="4300" b="1" dirty="0" err="1" smtClean="0">
                <a:solidFill>
                  <a:srgbClr val="F0FCFF"/>
                </a:solidFill>
                <a:latin typeface="Arial Narrow" panose="020B0606020202030204" pitchFamily="34" charset="0"/>
                <a:ea typeface="Spline Sans Bold" pitchFamily="34" charset="-122"/>
                <a:cs typeface="Spline Sans Bold" pitchFamily="34" charset="-120"/>
              </a:rPr>
              <a:t>Barshan</a:t>
            </a:r>
            <a:endParaRPr lang="en-US" sz="4300" b="1" dirty="0" smtClean="0">
              <a:solidFill>
                <a:srgbClr val="F0FCFF"/>
              </a:solidFill>
              <a:latin typeface="Arial Narrow" panose="020B0606020202030204" pitchFamily="34" charset="0"/>
              <a:ea typeface="Spline Sans Bold" pitchFamily="34" charset="-122"/>
              <a:cs typeface="Spline Sans Bold" pitchFamily="34" charset="-120"/>
            </a:endParaRPr>
          </a:p>
          <a:p>
            <a:pPr marL="0" indent="0">
              <a:lnSpc>
                <a:spcPts val="5400"/>
              </a:lnSpc>
              <a:buNone/>
            </a:pPr>
            <a:r>
              <a:rPr lang="en-US" sz="4300" b="1" dirty="0" smtClean="0">
                <a:solidFill>
                  <a:srgbClr val="F0FCFF"/>
                </a:solidFill>
                <a:latin typeface="Arial Narrow" panose="020B0606020202030204" pitchFamily="34" charset="0"/>
                <a:ea typeface="Spline Sans Bold" pitchFamily="34" charset="-122"/>
              </a:rPr>
              <a:t>Reg:21201166</a:t>
            </a:r>
            <a:endParaRPr lang="en-US" sz="4300" dirty="0">
              <a:latin typeface="Arial Narrow" panose="020B0606020202030204" pitchFamily="34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7833579" y="3485613"/>
            <a:ext cx="292564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 err="1" smtClean="0">
                <a:solidFill>
                  <a:srgbClr val="F0FCFF"/>
                </a:solidFill>
                <a:latin typeface="Arial Narrow" panose="020B0606020202030204" pitchFamily="34" charset="0"/>
                <a:ea typeface="Spline Sans Bold" pitchFamily="34" charset="-122"/>
                <a:cs typeface="Spline Sans Bold" pitchFamily="34" charset="-120"/>
              </a:rPr>
              <a:t>Tanvir</a:t>
            </a:r>
            <a:r>
              <a:rPr lang="en-US" sz="4300" b="1" dirty="0" smtClean="0">
                <a:solidFill>
                  <a:srgbClr val="F0FCFF"/>
                </a:solidFill>
                <a:latin typeface="Arial Narrow" panose="020B0606020202030204" pitchFamily="34" charset="0"/>
                <a:ea typeface="Spline Sans Bold" pitchFamily="34" charset="-122"/>
                <a:cs typeface="Spline Sans Bold" pitchFamily="34" charset="-120"/>
              </a:rPr>
              <a:t> </a:t>
            </a:r>
            <a:r>
              <a:rPr lang="en-US" sz="4300" b="1" dirty="0" err="1" smtClean="0">
                <a:solidFill>
                  <a:srgbClr val="F0FCFF"/>
                </a:solidFill>
                <a:latin typeface="Arial Narrow" panose="020B0606020202030204" pitchFamily="34" charset="0"/>
                <a:ea typeface="Spline Sans Bold" pitchFamily="34" charset="-122"/>
                <a:cs typeface="Spline Sans Bold" pitchFamily="34" charset="-120"/>
              </a:rPr>
              <a:t>Rahan</a:t>
            </a:r>
            <a:r>
              <a:rPr lang="en-US" sz="4300" b="1" dirty="0" smtClean="0">
                <a:solidFill>
                  <a:srgbClr val="F0FCFF"/>
                </a:solidFill>
                <a:latin typeface="Arial Narrow" panose="020B0606020202030204" pitchFamily="34" charset="0"/>
                <a:ea typeface="Spline Sans Bold" pitchFamily="34" charset="-122"/>
                <a:cs typeface="Spline Sans Bold" pitchFamily="34" charset="-120"/>
              </a:rPr>
              <a:t> </a:t>
            </a:r>
            <a:r>
              <a:rPr lang="en-US" sz="4300" b="1" dirty="0" err="1" smtClean="0">
                <a:solidFill>
                  <a:srgbClr val="F0FCFF"/>
                </a:solidFill>
                <a:latin typeface="Arial Narrow" panose="020B0606020202030204" pitchFamily="34" charset="0"/>
                <a:ea typeface="Spline Sans Bold" pitchFamily="34" charset="-122"/>
                <a:cs typeface="Spline Sans Bold" pitchFamily="34" charset="-120"/>
              </a:rPr>
              <a:t>Rifat</a:t>
            </a:r>
            <a:endParaRPr lang="en-US" sz="4300" b="1" dirty="0" smtClean="0">
              <a:solidFill>
                <a:srgbClr val="F0FCFF"/>
              </a:solidFill>
              <a:latin typeface="Arial Narrow" panose="020B0606020202030204" pitchFamily="34" charset="0"/>
              <a:ea typeface="Spline Sans Bold" pitchFamily="34" charset="-122"/>
              <a:cs typeface="Spline Sans Bold" pitchFamily="34" charset="-120"/>
            </a:endParaRPr>
          </a:p>
          <a:p>
            <a:pPr marL="0" indent="0">
              <a:lnSpc>
                <a:spcPts val="5400"/>
              </a:lnSpc>
              <a:buNone/>
            </a:pPr>
            <a:r>
              <a:rPr lang="en-US" sz="4300" b="1" dirty="0" smtClean="0">
                <a:solidFill>
                  <a:srgbClr val="F0FCFF"/>
                </a:solidFill>
                <a:latin typeface="Arial Narrow" panose="020B0606020202030204" pitchFamily="34" charset="0"/>
                <a:ea typeface="Spline Sans Bold" pitchFamily="34" charset="-122"/>
              </a:rPr>
              <a:t>Reg:22101065</a:t>
            </a:r>
            <a:endParaRPr lang="en-US" sz="4300" dirty="0">
              <a:latin typeface="Arial Narrow" panose="020B0606020202030204" pitchFamily="34" charset="0"/>
            </a:endParaRPr>
          </a:p>
        </p:txBody>
      </p:sp>
      <p:sp>
        <p:nvSpPr>
          <p:cNvPr id="5" name="Text 0"/>
          <p:cNvSpPr/>
          <p:nvPr/>
        </p:nvSpPr>
        <p:spPr>
          <a:xfrm>
            <a:off x="1448544" y="2224371"/>
            <a:ext cx="292564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 err="1" smtClean="0">
                <a:solidFill>
                  <a:srgbClr val="F0FCFF"/>
                </a:solidFill>
                <a:latin typeface="Arial Narrow" panose="020B0606020202030204" pitchFamily="34" charset="0"/>
                <a:ea typeface="Spline Sans Bold" pitchFamily="34" charset="-122"/>
                <a:cs typeface="Spline Sans Bold" pitchFamily="34" charset="-120"/>
              </a:rPr>
              <a:t>Taohid</a:t>
            </a:r>
            <a:r>
              <a:rPr lang="en-US" sz="4300" b="1" dirty="0" smtClean="0">
                <a:solidFill>
                  <a:srgbClr val="F0FCFF"/>
                </a:solidFill>
                <a:latin typeface="Arial Narrow" panose="020B0606020202030204" pitchFamily="34" charset="0"/>
                <a:ea typeface="Spline Sans Bold" pitchFamily="34" charset="-122"/>
                <a:cs typeface="Spline Sans Bold" pitchFamily="34" charset="-120"/>
              </a:rPr>
              <a:t> Khan</a:t>
            </a:r>
          </a:p>
          <a:p>
            <a:pPr marL="0" indent="0">
              <a:lnSpc>
                <a:spcPts val="5400"/>
              </a:lnSpc>
              <a:buNone/>
            </a:pPr>
            <a:r>
              <a:rPr lang="en-US" sz="4300" b="1" dirty="0" smtClean="0">
                <a:solidFill>
                  <a:srgbClr val="F0FCFF"/>
                </a:solidFill>
                <a:latin typeface="Arial Narrow" panose="020B0606020202030204" pitchFamily="34" charset="0"/>
                <a:ea typeface="Spline Sans Bold" pitchFamily="34" charset="-122"/>
              </a:rPr>
              <a:t>Reg:22101070</a:t>
            </a:r>
            <a:endParaRPr lang="en-US" sz="43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421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378" y="952619"/>
            <a:ext cx="292564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Arial Rounded MT Bold" panose="020F0704030504030204" pitchFamily="34" charset="0"/>
                <a:ea typeface="Spline Sans Bold" pitchFamily="34" charset="-122"/>
                <a:cs typeface="Spline Sans Bold" pitchFamily="34" charset="-120"/>
              </a:rPr>
              <a:t>Introduction</a:t>
            </a:r>
            <a:endParaRPr lang="en-US" sz="4300" dirty="0">
              <a:latin typeface="Arial Rounded MT Bold" panose="020F07040305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4036" y="2488485"/>
            <a:ext cx="12902327" cy="325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Arial Rounded MT Bold" panose="020F0704030504030204" pitchFamily="34" charset="0"/>
                <a:ea typeface="Barlow" pitchFamily="34" charset="-122"/>
                <a:cs typeface="Barlow" pitchFamily="34" charset="-120"/>
              </a:rPr>
              <a:t>Millimeter-wave (mm-wave) communication, with its extensive bandwidth capabilities, has become critical for addressing the growing demands of high-speed data networks. Combining Multiple Input Multiple Output (MIMO) technology with Radio-over-Fiber (RoF) systems enables reliable and long-distance communication with minimal signal degradation. Despite its promise, conventional RoF systems face challenges like optical power loss and modulation inefficiency, necessitating innovative design solutions.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5B9D4B2A-5721-4A28-AFF4-89BB1979AE55}"/>
              </a:ext>
            </a:extLst>
          </p:cNvPr>
          <p:cNvSpPr/>
          <p:nvPr/>
        </p:nvSpPr>
        <p:spPr>
          <a:xfrm>
            <a:off x="1006274" y="4313714"/>
            <a:ext cx="12902327" cy="222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Arial Rounded MT Bold" panose="020F0704030504030204" pitchFamily="34" charset="0"/>
                <a:ea typeface="Barlow" pitchFamily="34" charset="-122"/>
                <a:cs typeface="Barlow" pitchFamily="34" charset="-120"/>
              </a:rPr>
              <a:t>In this paper, our primary contribution lies in presenting a low-complexity yet high-performance MIMO-RoF system design that addresses existing bottlenecks in signal transmission and modulation efficiency. This work provides a theoretical basis for future implementations in next-generation wireless communication networks.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5895282-51F7-46F7-8416-239A55541E3E}"/>
              </a:ext>
            </a:extLst>
          </p:cNvPr>
          <p:cNvSpPr/>
          <p:nvPr/>
        </p:nvSpPr>
        <p:spPr>
          <a:xfrm>
            <a:off x="1006275" y="1428512"/>
            <a:ext cx="12902327" cy="222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Arial Rounded MT Bold" panose="020F0704030504030204" pitchFamily="34" charset="0"/>
                <a:ea typeface="Barlow" pitchFamily="34" charset="-122"/>
                <a:cs typeface="Barlow" pitchFamily="34" charset="-120"/>
              </a:rPr>
              <a:t>This paper focuses on a novel approach for mm-wave generation using advanced external optical modulators in a 2×2 WDM-enabled MIMO-RoF framework. The proposed system introduces precise signal processing techniques and enhanced wavelength multiplexing to minimize distortion while achieving optimal spectral efficiency.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504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3385" y="927776"/>
            <a:ext cx="292564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 smtClean="0">
                <a:solidFill>
                  <a:srgbClr val="F0FCFF"/>
                </a:solidFill>
                <a:latin typeface="Arial Rounded MT Bold" panose="020F0704030504030204" pitchFamily="34" charset="0"/>
                <a:ea typeface="Spline Sans Bold" pitchFamily="34" charset="-122"/>
                <a:cs typeface="Spline Sans Bold" pitchFamily="34" charset="-120"/>
              </a:rPr>
              <a:t>Problem Statement</a:t>
            </a:r>
            <a:endParaRPr lang="en-US" sz="4300" dirty="0">
              <a:latin typeface="Arial Rounded MT Bold" panose="020F07040305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3228" y="2286000"/>
            <a:ext cx="4892237" cy="43858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Low Frequency, high coverage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High Frequency, low coverage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High Noise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Using wrong components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Optical power loss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Modulation Inefficiency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444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1981" y="480893"/>
            <a:ext cx="5362813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endParaRPr lang="en-US" sz="4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5E6D9C-E3C1-B4C0-02AD-ED1155C4E8BD}"/>
              </a:ext>
            </a:extLst>
          </p:cNvPr>
          <p:cNvSpPr txBox="1"/>
          <p:nvPr/>
        </p:nvSpPr>
        <p:spPr>
          <a:xfrm>
            <a:off x="4252598" y="6940492"/>
            <a:ext cx="6125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Figure: (a) Amplitude-Modulator-based-</a:t>
            </a:r>
            <a:r>
              <a:rPr lang="en-US" sz="2400" dirty="0" err="1">
                <a:solidFill>
                  <a:schemeClr val="bg1"/>
                </a:solidFill>
              </a:rPr>
              <a:t>RoF</a:t>
            </a:r>
            <a:r>
              <a:rPr lang="en-US" sz="2400" dirty="0">
                <a:solidFill>
                  <a:schemeClr val="bg1"/>
                </a:solidFill>
              </a:rPr>
              <a:t>-link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4766B0-A2C0-4A9D-B576-80DA89CE7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30" y="919776"/>
            <a:ext cx="13334540" cy="56539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ED8AB6-9DC5-41D9-93F2-AE1968C69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47" y="1131499"/>
            <a:ext cx="13909906" cy="49300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F48EF2-1C1D-42E1-B170-A171B93B3AE7}"/>
              </a:ext>
            </a:extLst>
          </p:cNvPr>
          <p:cNvSpPr txBox="1"/>
          <p:nvPr/>
        </p:nvSpPr>
        <p:spPr>
          <a:xfrm>
            <a:off x="4252598" y="6940492"/>
            <a:ext cx="5547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Figure: (b) Dual-Drive-MZM-based-</a:t>
            </a:r>
            <a:r>
              <a:rPr lang="en-US" sz="2400" dirty="0" err="1">
                <a:solidFill>
                  <a:schemeClr val="bg1"/>
                </a:solidFill>
              </a:rPr>
              <a:t>RoF</a:t>
            </a:r>
            <a:r>
              <a:rPr lang="en-US" sz="2400" dirty="0">
                <a:solidFill>
                  <a:schemeClr val="bg1"/>
                </a:solidFill>
              </a:rPr>
              <a:t>-link</a:t>
            </a:r>
          </a:p>
        </p:txBody>
      </p:sp>
    </p:spTree>
    <p:extLst>
      <p:ext uri="{BB962C8B-B14F-4D97-AF65-F5344CB8AC3E}">
        <p14:creationId xmlns:p14="http://schemas.microsoft.com/office/powerpoint/2010/main" val="316510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810" y="847368"/>
            <a:ext cx="4862751" cy="60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Literature Review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65810" y="2138839"/>
            <a:ext cx="492323" cy="492323"/>
          </a:xfrm>
          <a:prstGeom prst="roundRect">
            <a:avLst>
              <a:gd name="adj" fmla="val 66671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8809" y="2239089"/>
            <a:ext cx="126206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476851" y="2138839"/>
            <a:ext cx="3509367" cy="60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MIMO and Radio-over-Fiber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42501" y="3481421"/>
            <a:ext cx="3509367" cy="420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Multiple-Input Multiple-Output (MIMO) systems have revolutionized wireless communication by significantly enhancing spectral efficiency, data rates, and network reliability. 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204936" y="2138839"/>
            <a:ext cx="492323" cy="492323"/>
          </a:xfrm>
          <a:prstGeom prst="roundRect">
            <a:avLst>
              <a:gd name="adj" fmla="val 66671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69957" y="2239089"/>
            <a:ext cx="162163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915978" y="2138839"/>
            <a:ext cx="3509367" cy="911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Optical Modulators for Millimeter-Wave Signal Generation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15978" y="3481133"/>
            <a:ext cx="3509367" cy="420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Optical modulators are indispensable components of RoF systems, converting electrical signals into optical signals to facilitate the transmission of mm-wave signals over optical fibers. 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644063" y="2138839"/>
            <a:ext cx="492323" cy="492323"/>
          </a:xfrm>
          <a:prstGeom prst="roundRect">
            <a:avLst>
              <a:gd name="adj" fmla="val 66671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04797" y="2239089"/>
            <a:ext cx="170736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355104" y="2138839"/>
            <a:ext cx="3509367" cy="60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Challenges in MIMO-Based RoF Systems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355103" y="3481421"/>
            <a:ext cx="3509367" cy="1750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Despite their numerous advantages, MIMO-RoF systems face several technical challenges: Optical Power Loss, Signal Distortion, and Scalability.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70767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System Design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074789"/>
            <a:ext cx="61500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 1: Amplitude Modulator-Based MIMO-RoF System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007406"/>
            <a:ext cx="615005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model demonstrates a MIMO-RoF system employing Amplitude Modulators (AM) to generate and transmit millimeter-wave signals.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541472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Transmitter Side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589609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Font typeface="+mj-lt"/>
              <a:buAutoNum type="arabicPeriod" startAt="2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Fiber Link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4037" y="637746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Font typeface="+mj-lt"/>
              <a:buAutoNum type="arabicPeriod" startAt="3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Receiver Side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3074789"/>
            <a:ext cx="61500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 2: Dual-Drive Mach-Zehnder Modulator (DD-MZM) Based MIMO-RoF System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623929" y="4007406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model uses DD-MZMs for enhanced performance in generating and transmitting millimeter-wave signals.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501967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Transmitter Side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23929" y="550104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Font typeface="+mj-lt"/>
              <a:buAutoNum type="arabicPeriod" startAt="2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Fiber Link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623929" y="598241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Font typeface="+mj-lt"/>
              <a:buAutoNum type="arabicPeriod" startAt="3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Receiver Side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13" y="409813"/>
            <a:ext cx="3311962" cy="41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Results &amp; Discussion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613" y="1121807"/>
            <a:ext cx="13587174" cy="6742033"/>
          </a:xfrm>
          <a:prstGeom prst="roundRect">
            <a:avLst>
              <a:gd name="adj" fmla="val 331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9233" y="1129427"/>
            <a:ext cx="13571934" cy="4325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78418" y="1226463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S/No.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075152" y="1226463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Devices (Model Number)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68076" y="1226463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Parameter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861000" y="1226463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Values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9233" y="1561981"/>
            <a:ext cx="13571934" cy="4325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78418" y="1659017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75152" y="1659017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NRZ &amp; RZ Pulse Generator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68076" y="1659017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Rectangle Shape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861000" y="1659017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Exponential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9233" y="1994535"/>
            <a:ext cx="13571934" cy="4325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468076" y="2091571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Amplitude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861000" y="2091571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 </a:t>
            </a:r>
            <a:r>
              <a:rPr lang="en-US" sz="115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a.u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29233" y="2427089"/>
            <a:ext cx="13571934" cy="4325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8418" y="3073132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075152" y="2524125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Amplitude Modulator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68076" y="2524125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Modulation Index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861000" y="2524125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29233" y="2859643"/>
            <a:ext cx="13571934" cy="6710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78418" y="3647132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075152" y="2956679"/>
            <a:ext cx="3087410" cy="47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Dual Port Dual Drive Mach Zehnder Modulator (MZM)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68076" y="2956679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Splitting Ratio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861000" y="2956679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1.3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29233" y="3530679"/>
            <a:ext cx="13571934" cy="4325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8418" y="4044533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075152" y="3627715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Optical Fiber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468076" y="3627715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Length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861000" y="3627715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29233" y="3963233"/>
            <a:ext cx="13571934" cy="4325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075152" y="4060269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Optical Fiber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468076" y="4060269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Attenuation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861000" y="4060269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0.2dB/km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468076" y="4492823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Dispersion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861000" y="4492823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16.75 ps/nm/km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468076" y="4925378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Differential Group Delay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0861000" y="4925378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0.5 ps/km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78180" y="5347495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</a:rPr>
              <a:t>6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075152" y="5357932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Fiber Bragg Grating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7468076" y="5357932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Length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0861000" y="5357932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2mm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468076" y="5790486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Effective index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10861000" y="5790486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1.45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7468076" y="6223040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Frequency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10861000" y="6223040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1552.52nm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678418" y="6655594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4075152" y="6655594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Photodetector PIN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7468076" y="6655594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Responsivity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10861000" y="6655594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1A/W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678418" y="7516416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7468076" y="7088148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Dark Current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10861000" y="7088148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10nA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4075152" y="7520702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Low pass Bessel Filter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7468076" y="7520702"/>
            <a:ext cx="308741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Cutoff Frequency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10861000" y="7520702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0.75\*Bit Rate Hz</a:t>
            </a:r>
            <a:endParaRPr lang="en-US" sz="1150" dirty="0"/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260A02AE-104F-415A-B646-DEB8896BBC56}"/>
              </a:ext>
            </a:extLst>
          </p:cNvPr>
          <p:cNvSpPr/>
          <p:nvPr/>
        </p:nvSpPr>
        <p:spPr>
          <a:xfrm>
            <a:off x="678418" y="2521337"/>
            <a:ext cx="3091220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E095B39-7B76-428E-A6EB-EEAF3A1FA4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6302370"/>
              </p:ext>
            </p:extLst>
          </p:nvPr>
        </p:nvGraphicFramePr>
        <p:xfrm>
          <a:off x="2480733" y="843280"/>
          <a:ext cx="9668933" cy="580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480D010-9F78-41A1-978C-C433118279E9}"/>
              </a:ext>
            </a:extLst>
          </p:cNvPr>
          <p:cNvSpPr txBox="1"/>
          <p:nvPr/>
        </p:nvSpPr>
        <p:spPr>
          <a:xfrm>
            <a:off x="5618035" y="7152640"/>
            <a:ext cx="3394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Result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933110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F52209-CD7C-B685-A3F4-119B759716B2}"/>
              </a:ext>
            </a:extLst>
          </p:cNvPr>
          <p:cNvSpPr txBox="1"/>
          <p:nvPr/>
        </p:nvSpPr>
        <p:spPr>
          <a:xfrm>
            <a:off x="5942974" y="666074"/>
            <a:ext cx="2500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Spline Sans Bold"/>
              </a:rPr>
              <a:t>Results</a:t>
            </a:r>
            <a:endParaRPr lang="en-US" sz="4800" b="1" dirty="0">
              <a:solidFill>
                <a:schemeClr val="bg1"/>
              </a:solidFill>
              <a:latin typeface="Spline Sans Bold"/>
            </a:endParaRPr>
          </a:p>
        </p:txBody>
      </p:sp>
      <p:pic>
        <p:nvPicPr>
          <p:cNvPr id="1027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78" r="5118"/>
          <a:stretch>
            <a:fillRect/>
          </a:stretch>
        </p:blipFill>
        <p:spPr bwMode="auto">
          <a:xfrm>
            <a:off x="725213" y="2143984"/>
            <a:ext cx="3591011" cy="346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80"/>
          <a:stretch>
            <a:fillRect/>
          </a:stretch>
        </p:blipFill>
        <p:spPr bwMode="auto">
          <a:xfrm>
            <a:off x="5368390" y="2159358"/>
            <a:ext cx="3649644" cy="352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7325" y="3382275"/>
            <a:ext cx="4006471" cy="969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46842" y="3553727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GB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8920" y="6442628"/>
            <a:ext cx="13008583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</a:t>
            </a:r>
            <a:r>
              <a:rPr lang="en-GB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GB" sz="28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Optical 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Power Spectrum of </a:t>
            </a:r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RoF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link using AM: (a) frequency domain; (b) time domain &amp; (c) Power Meter</a:t>
            </a:r>
            <a:endParaRPr lang="en-US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075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58" y="2416359"/>
            <a:ext cx="3791193" cy="362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572" y="2452559"/>
            <a:ext cx="3739790" cy="362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8472" y="3399837"/>
            <a:ext cx="3006015" cy="123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3011214" y="838200"/>
            <a:ext cx="146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3011214" y="3352800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GB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3011214" y="5429250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GB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5472" y="6650350"/>
            <a:ext cx="12675476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</a:t>
            </a:r>
            <a:r>
              <a:rPr lang="en-GB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</a:t>
            </a:r>
            <a:r>
              <a:rPr lang="en-GB" sz="28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Optical Power Spectrum of </a:t>
            </a:r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RoF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link using Dual drive MZM: (a) frequency domain; and (b) time domain</a:t>
            </a:r>
            <a:endParaRPr lang="en-US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F52209-CD7C-B685-A3F4-119B759716B2}"/>
              </a:ext>
            </a:extLst>
          </p:cNvPr>
          <p:cNvSpPr txBox="1"/>
          <p:nvPr/>
        </p:nvSpPr>
        <p:spPr>
          <a:xfrm>
            <a:off x="5942974" y="666074"/>
            <a:ext cx="2500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Spline Sans Bold"/>
              </a:rPr>
              <a:t>Results</a:t>
            </a:r>
            <a:endParaRPr lang="en-US" sz="4800" b="1" dirty="0">
              <a:solidFill>
                <a:schemeClr val="bg1"/>
              </a:solidFill>
              <a:latin typeface="Spline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3429452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612" y="1865948"/>
            <a:ext cx="4221375" cy="400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447" y="1865948"/>
            <a:ext cx="4173907" cy="400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146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3105150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endParaRPr kumimoji="0" lang="en-GB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5819775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74531" y="6320921"/>
            <a:ext cx="12281338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</a:t>
            </a:r>
            <a:r>
              <a:rPr lang="en-GB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</a:t>
            </a:r>
            <a:r>
              <a:rPr lang="en-GB" sz="28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(a) RF Power Spectrum of AM-based design (b) RF Power Spectrum of Dual drive MZM-based design</a:t>
            </a:r>
            <a:endParaRPr lang="en-US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52209-CD7C-B685-A3F4-119B759716B2}"/>
              </a:ext>
            </a:extLst>
          </p:cNvPr>
          <p:cNvSpPr txBox="1"/>
          <p:nvPr/>
        </p:nvSpPr>
        <p:spPr>
          <a:xfrm>
            <a:off x="5942974" y="666074"/>
            <a:ext cx="2500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Spline Sans Bold"/>
              </a:rPr>
              <a:t>Results</a:t>
            </a:r>
            <a:endParaRPr lang="en-US" sz="4800" b="1" dirty="0">
              <a:solidFill>
                <a:schemeClr val="bg1"/>
              </a:solidFill>
              <a:latin typeface="Spline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447997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786" y="1877734"/>
            <a:ext cx="4020207" cy="3890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54" y="1877734"/>
            <a:ext cx="3894084" cy="392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146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3028950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F52209-CD7C-B685-A3F4-119B759716B2}"/>
              </a:ext>
            </a:extLst>
          </p:cNvPr>
          <p:cNvSpPr txBox="1"/>
          <p:nvPr/>
        </p:nvSpPr>
        <p:spPr>
          <a:xfrm>
            <a:off x="5942974" y="666074"/>
            <a:ext cx="2500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Spline Sans Bold"/>
              </a:rPr>
              <a:t>Results</a:t>
            </a:r>
            <a:endParaRPr lang="en-US" sz="4800" b="1" dirty="0">
              <a:solidFill>
                <a:schemeClr val="bg1"/>
              </a:solidFill>
              <a:latin typeface="Spline Sans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28247" y="6243881"/>
            <a:ext cx="11626056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5.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Constellation Visualizer output: (a) </a:t>
            </a:r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RoF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link with AM; and (b) </a:t>
            </a:r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RoF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link with DD-MZM</a:t>
            </a:r>
            <a:endParaRPr lang="en-US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16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AE57D7-8C04-C85E-3EE3-581596C8C6F2}"/>
              </a:ext>
            </a:extLst>
          </p:cNvPr>
          <p:cNvSpPr txBox="1"/>
          <p:nvPr/>
        </p:nvSpPr>
        <p:spPr>
          <a:xfrm>
            <a:off x="1125390" y="1710466"/>
            <a:ext cx="1285883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</a:rPr>
              <a:t>System Design: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Developed two MIMO-</a:t>
            </a:r>
            <a:r>
              <a:rPr lang="en-US" sz="2400" dirty="0" err="1">
                <a:solidFill>
                  <a:schemeClr val="bg1"/>
                </a:solidFill>
              </a:rPr>
              <a:t>RoF</a:t>
            </a:r>
            <a:r>
              <a:rPr lang="en-US" sz="2400" dirty="0">
                <a:solidFill>
                  <a:schemeClr val="bg1"/>
                </a:solidFill>
              </a:rPr>
              <a:t> models using OPTISYSTEM software: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a) Amplitude Modulator (AM)-based.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b) Dual-Drive Mach-Zehnder Modulator (DD-MZM)-based.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Key components include pseudo-random bit sequence generators, modulators, WDM MUX/DEMUX, optical fibers, and photodetectors.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</a:rPr>
              <a:t>Simulation: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Conducted simulations to analyze optical and RF spectra, signal integrity, and modulation performance.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Evaluated systems on Q-factor, Bit Error Rate (BER), and spectral efficiency</a:t>
            </a:r>
            <a:r>
              <a:rPr lang="en-US" sz="2400" dirty="0" smtClean="0">
                <a:solidFill>
                  <a:schemeClr val="bg1"/>
                </a:solidFill>
              </a:rPr>
              <a:t>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F52209-CD7C-B685-A3F4-119B759716B2}"/>
              </a:ext>
            </a:extLst>
          </p:cNvPr>
          <p:cNvSpPr txBox="1"/>
          <p:nvPr/>
        </p:nvSpPr>
        <p:spPr>
          <a:xfrm>
            <a:off x="5666065" y="666074"/>
            <a:ext cx="377748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300" b="1" dirty="0">
                <a:solidFill>
                  <a:schemeClr val="bg1"/>
                </a:solidFill>
                <a:latin typeface="Spline Sans Bold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2733033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AE57D7-8C04-C85E-3EE3-581596C8C6F2}"/>
              </a:ext>
            </a:extLst>
          </p:cNvPr>
          <p:cNvSpPr txBox="1"/>
          <p:nvPr/>
        </p:nvSpPr>
        <p:spPr>
          <a:xfrm>
            <a:off x="743896" y="2656398"/>
            <a:ext cx="1285883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chemeClr val="bg1"/>
                </a:solidFill>
              </a:rPr>
              <a:t>3.Comparison</a:t>
            </a:r>
            <a:r>
              <a:rPr lang="en-US" sz="2400" b="1" dirty="0">
                <a:solidFill>
                  <a:schemeClr val="bg1"/>
                </a:solidFill>
              </a:rPr>
              <a:t>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Assessed AM and DD-MZM-based systems for sideband suppression, power efficiency, and signal distortion.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chemeClr val="bg1"/>
                </a:solidFill>
              </a:rPr>
              <a:t>4.Results</a:t>
            </a:r>
            <a:r>
              <a:rPr lang="en-US" sz="2400" b="1" dirty="0">
                <a:solidFill>
                  <a:schemeClr val="bg1"/>
                </a:solidFill>
              </a:rPr>
              <a:t>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Demonstrated feasibility for high-frequency mm-wave generation in 5G networks and beyond.</a:t>
            </a:r>
          </a:p>
        </p:txBody>
      </p:sp>
    </p:spTree>
    <p:extLst>
      <p:ext uri="{BB962C8B-B14F-4D97-AF65-F5344CB8AC3E}">
        <p14:creationId xmlns:p14="http://schemas.microsoft.com/office/powerpoint/2010/main" val="3516010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50498" y="467191"/>
            <a:ext cx="252940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1534531"/>
            <a:ext cx="12902327" cy="541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0E4E6"/>
                </a:solidFill>
                <a:latin typeface="Arial Rounded MT Bold" panose="020F0704030504030204" pitchFamily="34" charset="0"/>
                <a:ea typeface="Barlow" pitchFamily="34" charset="-122"/>
                <a:cs typeface="Barlow" pitchFamily="34" charset="-120"/>
              </a:rPr>
              <a:t>This study presents a comprehensive modelling of a 2×2 MIMO-based Radio-over-Fiber (RoF) system for millimeter-wave generation, utilizing two distinct optical modulators. </a:t>
            </a:r>
            <a:endParaRPr lang="en-US" sz="2400" dirty="0" smtClean="0">
              <a:solidFill>
                <a:srgbClr val="E0E4E6"/>
              </a:solidFill>
              <a:latin typeface="Arial Rounded MT Bold" panose="020F0704030504030204" pitchFamily="34" charset="0"/>
              <a:ea typeface="Barlow" pitchFamily="34" charset="-122"/>
              <a:cs typeface="Barlow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E0E4E6"/>
                </a:solidFill>
                <a:latin typeface="Arial Rounded MT Bold" panose="020F0704030504030204" pitchFamily="34" charset="0"/>
                <a:ea typeface="Barlow" pitchFamily="34" charset="-122"/>
                <a:cs typeface="Barlow" pitchFamily="34" charset="-120"/>
              </a:rPr>
              <a:t>Dual-Drive </a:t>
            </a:r>
            <a:r>
              <a:rPr lang="en-US" sz="2400" dirty="0">
                <a:solidFill>
                  <a:srgbClr val="E0E4E6"/>
                </a:solidFill>
                <a:latin typeface="Arial Rounded MT Bold" panose="020F0704030504030204" pitchFamily="34" charset="0"/>
                <a:ea typeface="Barlow" pitchFamily="34" charset="-122"/>
                <a:cs typeface="Barlow" pitchFamily="34" charset="-120"/>
              </a:rPr>
              <a:t>Mach-Zehnder Modulator (DD-MZM) efficiently generates high-frequency signals with multiple power peaks, achieving frequencies up to 60 GHz</a:t>
            </a:r>
            <a:r>
              <a:rPr lang="en-US" sz="2400" dirty="0" smtClean="0">
                <a:solidFill>
                  <a:srgbClr val="E0E4E6"/>
                </a:solidFill>
                <a:latin typeface="Arial Rounded MT Bold" panose="020F0704030504030204" pitchFamily="34" charset="0"/>
                <a:ea typeface="Barlow" pitchFamily="34" charset="-122"/>
                <a:cs typeface="Barlow" pitchFamily="34" charset="-12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0E4E6"/>
                </a:solidFill>
                <a:latin typeface="Arial Rounded MT Bold" panose="020F0704030504030204" pitchFamily="34" charset="0"/>
                <a:ea typeface="Barlow" pitchFamily="34" charset="-122"/>
                <a:cs typeface="Barlow" pitchFamily="34" charset="-120"/>
              </a:rPr>
              <a:t>The Amplitude Modulator (AM)-based </a:t>
            </a:r>
            <a:r>
              <a:rPr lang="en-US" sz="2400" dirty="0" err="1">
                <a:solidFill>
                  <a:srgbClr val="E0E4E6"/>
                </a:solidFill>
                <a:latin typeface="Arial Rounded MT Bold" panose="020F0704030504030204" pitchFamily="34" charset="0"/>
                <a:ea typeface="Barlow" pitchFamily="34" charset="-122"/>
                <a:cs typeface="Barlow" pitchFamily="34" charset="-120"/>
              </a:rPr>
              <a:t>RoF</a:t>
            </a:r>
            <a:r>
              <a:rPr lang="en-US" sz="2400" dirty="0">
                <a:solidFill>
                  <a:srgbClr val="E0E4E6"/>
                </a:solidFill>
                <a:latin typeface="Arial Rounded MT Bold" panose="020F0704030504030204" pitchFamily="34" charset="0"/>
                <a:ea typeface="Barlow" pitchFamily="34" charset="-122"/>
                <a:cs typeface="Barlow" pitchFamily="34" charset="-120"/>
              </a:rPr>
              <a:t> link achieves a Q-factor of 4 to 6,with so much noise and Bit Error Rate (BER) over a 0.5 km optical fiber.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0E4E6"/>
                </a:solidFill>
                <a:latin typeface="Arial Rounded MT Bold" panose="020F0704030504030204" pitchFamily="34" charset="0"/>
                <a:ea typeface="Barlow" pitchFamily="34" charset="-122"/>
                <a:cs typeface="Barlow" pitchFamily="34" charset="-120"/>
              </a:rPr>
              <a:t>This work highlights the potential of tailored MIMO-based </a:t>
            </a:r>
            <a:r>
              <a:rPr lang="en-US" sz="2400" dirty="0" err="1">
                <a:solidFill>
                  <a:srgbClr val="E0E4E6"/>
                </a:solidFill>
                <a:latin typeface="Arial Rounded MT Bold" panose="020F0704030504030204" pitchFamily="34" charset="0"/>
                <a:ea typeface="Barlow" pitchFamily="34" charset="-122"/>
                <a:cs typeface="Barlow" pitchFamily="34" charset="-120"/>
              </a:rPr>
              <a:t>RoF</a:t>
            </a:r>
            <a:r>
              <a:rPr lang="en-US" sz="2400" dirty="0">
                <a:solidFill>
                  <a:srgbClr val="E0E4E6"/>
                </a:solidFill>
                <a:latin typeface="Arial Rounded MT Bold" panose="020F0704030504030204" pitchFamily="34" charset="0"/>
                <a:ea typeface="Barlow" pitchFamily="34" charset="-122"/>
                <a:cs typeface="Barlow" pitchFamily="34" charset="-120"/>
              </a:rPr>
              <a:t> systems in addressing the growing demands for high-frequency, high-capacity, and low-latency communication networks</a:t>
            </a:r>
            <a:r>
              <a:rPr lang="en-US" sz="2400" dirty="0" smtClean="0">
                <a:solidFill>
                  <a:srgbClr val="E0E4E6"/>
                </a:solidFill>
                <a:latin typeface="Arial Rounded MT Bold" panose="020F0704030504030204" pitchFamily="34" charset="0"/>
                <a:ea typeface="Barlow" pitchFamily="34" charset="-122"/>
                <a:cs typeface="Barlow" pitchFamily="34" charset="-120"/>
              </a:rPr>
              <a:t>. 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45651" y="3271095"/>
            <a:ext cx="237700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8000" b="1" dirty="0" smtClean="0">
                <a:solidFill>
                  <a:srgbClr val="F0FCFF"/>
                </a:solidFill>
                <a:latin typeface="Arial Rounded MT Bold" panose="020F0704030504030204" pitchFamily="34" charset="0"/>
                <a:ea typeface="Spline Sans Bold" pitchFamily="34" charset="-122"/>
                <a:cs typeface="Spline Sans Bold" pitchFamily="34" charset="-120"/>
              </a:rPr>
              <a:t>Thank</a:t>
            </a:r>
            <a:endParaRPr lang="en-US" sz="8000" dirty="0">
              <a:latin typeface="Arial Rounded MT Bold" panose="020F0704030504030204" pitchFamily="34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6817753" y="4445877"/>
            <a:ext cx="2529403" cy="843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960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You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64263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741</Words>
  <Application>Microsoft Office PowerPoint</Application>
  <PresentationFormat>Custom</PresentationFormat>
  <Paragraphs>131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Calibri</vt:lpstr>
      <vt:lpstr>Arial</vt:lpstr>
      <vt:lpstr>Arial Rounded MT Bold</vt:lpstr>
      <vt:lpstr>Barlow</vt:lpstr>
      <vt:lpstr>Times New Roman</vt:lpstr>
      <vt:lpstr>Spline Sans Bold</vt:lpstr>
      <vt:lpstr>Arial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Lab4PC01</cp:lastModifiedBy>
  <cp:revision>17</cp:revision>
  <dcterms:created xsi:type="dcterms:W3CDTF">2024-11-23T13:16:47Z</dcterms:created>
  <dcterms:modified xsi:type="dcterms:W3CDTF">2024-11-24T03:17:32Z</dcterms:modified>
</cp:coreProperties>
</file>